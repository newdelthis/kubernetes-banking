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6510528"/>
            <a:ext cx="640080" cy="164592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900" b="0">
                <a:solidFill>
                  <a:srgbClr val="5A6470"/>
                </a:solidFill>
                <a:latin typeface="Aptos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3100" b="1">
                <a:solidFill>
                  <a:srgbClr val="193152"/>
                </a:solidFill>
                <a:latin typeface="Aptos"/>
              </a:rPr>
              <a:t>How Kubernetes Runs a Reliable Banking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900" b="0">
                <a:solidFill>
                  <a:srgbClr val="007D82"/>
                </a:solidFill>
                <a:latin typeface="Aptos"/>
              </a:rPr>
              <a:t>From a real-world problem to Pods, Services, databases and recovery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017520"/>
            <a:ext cx="1828800" cy="822960"/>
          </a:xfrm>
          <a:prstGeom prst="roundRect">
            <a:avLst/>
          </a:prstGeom>
          <a:solidFill>
            <a:srgbClr val="F2F5F8"/>
          </a:solidFill>
          <a:ln w="17780">
            <a:solidFill>
              <a:srgbClr val="5A6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23282E"/>
                </a:solidFill>
                <a:latin typeface="Aptos"/>
              </a:rPr>
              <a:t>Customer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54680" y="3017520"/>
            <a:ext cx="1965960" cy="822960"/>
          </a:xfrm>
          <a:prstGeom prst="roundRect">
            <a:avLst/>
          </a:prstGeom>
          <a:solidFill>
            <a:srgbClr val="E2EFFC"/>
          </a:solidFill>
          <a:ln w="17780">
            <a:solidFill>
              <a:srgbClr val="2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23282E"/>
                </a:solidFill>
                <a:latin typeface="Aptos"/>
              </a:rPr>
              <a:t>App Service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0" y="2514600"/>
            <a:ext cx="1645920" cy="731520"/>
          </a:xfrm>
          <a:prstGeom prst="roundRect">
            <a:avLst/>
          </a:prstGeom>
          <a:solidFill>
            <a:srgbClr val="DEF4F2"/>
          </a:solidFill>
          <a:ln w="17780">
            <a:solidFill>
              <a:srgbClr val="00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23282E"/>
                </a:solidFill>
                <a:latin typeface="Aptos"/>
              </a:rPr>
              <a:t>App Pod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3520440"/>
            <a:ext cx="1645920" cy="731520"/>
          </a:xfrm>
          <a:prstGeom prst="roundRect">
            <a:avLst/>
          </a:prstGeom>
          <a:solidFill>
            <a:srgbClr val="DEF4F2"/>
          </a:solidFill>
          <a:ln w="17780">
            <a:solidFill>
              <a:srgbClr val="00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23282E"/>
                </a:solidFill>
                <a:latin typeface="Aptos"/>
              </a:rPr>
              <a:t>App Pod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3017520"/>
            <a:ext cx="2377440" cy="822960"/>
          </a:xfrm>
          <a:prstGeom prst="roundRect">
            <a:avLst/>
          </a:prstGeom>
          <a:solidFill>
            <a:srgbClr val="FFF1DC"/>
          </a:solidFill>
          <a:ln w="17780">
            <a:solidFill>
              <a:srgbClr val="D27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23282E"/>
                </a:solidFill>
                <a:latin typeface="Aptos"/>
              </a:rPr>
              <a:t>Database +
persistent data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68880" y="3429000"/>
            <a:ext cx="685800" cy="0"/>
          </a:xfrm>
          <a:prstGeom prst="line">
            <a:avLst/>
          </a:prstGeom>
          <a:ln w="2286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5120640" y="2880360"/>
            <a:ext cx="731520" cy="548640"/>
          </a:xfrm>
          <a:prstGeom prst="line">
            <a:avLst/>
          </a:prstGeom>
          <a:ln w="2286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120640" y="3429000"/>
            <a:ext cx="731520" cy="457200"/>
          </a:xfrm>
          <a:prstGeom prst="line">
            <a:avLst/>
          </a:prstGeom>
          <a:ln w="2286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498079" y="2880360"/>
            <a:ext cx="1188721" cy="457200"/>
          </a:xfrm>
          <a:prstGeom prst="line">
            <a:avLst/>
          </a:prstGeom>
          <a:ln w="2286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7498079" y="3566160"/>
            <a:ext cx="1188721" cy="320040"/>
          </a:xfrm>
          <a:prstGeom prst="line">
            <a:avLst/>
          </a:prstGeom>
          <a:ln w="2286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14400" y="4983480"/>
            <a:ext cx="1033272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800" b="0">
                <a:solidFill>
                  <a:srgbClr val="5A6470"/>
                </a:solidFill>
                <a:latin typeface="Aptos"/>
              </a:rPr>
              <a:t>Core idea: scaling Pods is easy; keeping data correct, available and recoverable needs design.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029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r>
              <a:rPr sz="2700" b="1">
                <a:solidFill>
                  <a:srgbClr val="193152"/>
                </a:solidFill>
                <a:latin typeface="Aptos"/>
              </a:rPr>
              <a:t>1. The situation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04672"/>
            <a:ext cx="914400" cy="45720"/>
          </a:xfrm>
          <a:prstGeom prst="rect">
            <a:avLst/>
          </a:prstGeom>
          <a:solidFill>
            <a:srgbClr val="007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77824"/>
            <a:ext cx="10972800" cy="3200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r>
              <a:rPr sz="1300" b="0">
                <a:solidFill>
                  <a:srgbClr val="5A6470"/>
                </a:solidFill>
                <a:latin typeface="Aptos"/>
              </a:rPr>
              <a:t>One customer makes three requests; Kubernetes may send them to different Pods.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10528"/>
            <a:ext cx="640080" cy="164592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900" b="0">
                <a:solidFill>
                  <a:srgbClr val="5A6470"/>
                </a:solidFill>
                <a:latin typeface="Aptos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2194560" cy="731520"/>
          </a:xfrm>
          <a:prstGeom prst="roundRect">
            <a:avLst/>
          </a:prstGeom>
          <a:solidFill>
            <a:srgbClr val="F2F5F8"/>
          </a:solidFill>
          <a:ln w="17780">
            <a:solidFill>
              <a:srgbClr val="5A6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23282E"/>
                </a:solidFill>
                <a:latin typeface="Aptos"/>
              </a:rPr>
              <a:t>Customer: Login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926080"/>
            <a:ext cx="2194560" cy="731520"/>
          </a:xfrm>
          <a:prstGeom prst="roundRect">
            <a:avLst/>
          </a:prstGeom>
          <a:solidFill>
            <a:srgbClr val="F2F5F8"/>
          </a:solidFill>
          <a:ln w="17780">
            <a:solidFill>
              <a:srgbClr val="5A6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23282E"/>
                </a:solidFill>
                <a:latin typeface="Aptos"/>
              </a:rPr>
              <a:t>Customer: Transfer funds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206240"/>
            <a:ext cx="2194560" cy="731520"/>
          </a:xfrm>
          <a:prstGeom prst="roundRect">
            <a:avLst/>
          </a:prstGeom>
          <a:solidFill>
            <a:srgbClr val="F2F5F8"/>
          </a:solidFill>
          <a:ln w="17780">
            <a:solidFill>
              <a:srgbClr val="5A6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23282E"/>
                </a:solidFill>
                <a:latin typeface="Aptos"/>
              </a:rPr>
              <a:t>Customer: Check balance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645920"/>
            <a:ext cx="1920240" cy="731520"/>
          </a:xfrm>
          <a:prstGeom prst="roundRect">
            <a:avLst/>
          </a:prstGeom>
          <a:solidFill>
            <a:srgbClr val="E2EFFC"/>
          </a:solidFill>
          <a:ln w="17780">
            <a:solidFill>
              <a:srgbClr val="2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23282E"/>
                </a:solidFill>
                <a:latin typeface="Aptos"/>
              </a:rPr>
              <a:t>Pod 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34640" y="2011680"/>
            <a:ext cx="822960" cy="0"/>
          </a:xfrm>
          <a:prstGeom prst="line">
            <a:avLst/>
          </a:prstGeom>
          <a:ln w="2286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657600" y="2926080"/>
            <a:ext cx="1920240" cy="731520"/>
          </a:xfrm>
          <a:prstGeom prst="roundRect">
            <a:avLst/>
          </a:prstGeom>
          <a:solidFill>
            <a:srgbClr val="E2EFFC"/>
          </a:solidFill>
          <a:ln w="17780">
            <a:solidFill>
              <a:srgbClr val="2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23282E"/>
                </a:solidFill>
                <a:latin typeface="Aptos"/>
              </a:rPr>
              <a:t>Pod B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34640" y="3291840"/>
            <a:ext cx="822960" cy="0"/>
          </a:xfrm>
          <a:prstGeom prst="line">
            <a:avLst/>
          </a:prstGeom>
          <a:ln w="2286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657600" y="4206240"/>
            <a:ext cx="1920240" cy="731520"/>
          </a:xfrm>
          <a:prstGeom prst="roundRect">
            <a:avLst/>
          </a:prstGeom>
          <a:solidFill>
            <a:srgbClr val="E2EFFC"/>
          </a:solidFill>
          <a:ln w="17780">
            <a:solidFill>
              <a:srgbClr val="2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23282E"/>
                </a:solidFill>
                <a:latin typeface="Aptos"/>
              </a:rPr>
              <a:t>Pod C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834640" y="4572000"/>
            <a:ext cx="822960" cy="0"/>
          </a:xfrm>
          <a:prstGeom prst="line">
            <a:avLst/>
          </a:prstGeom>
          <a:ln w="2286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766560" y="1828800"/>
            <a:ext cx="4206240" cy="914400"/>
          </a:xfrm>
          <a:prstGeom prst="roundRect">
            <a:avLst/>
          </a:prstGeom>
          <a:solidFill>
            <a:srgbClr val="DEF4F2"/>
          </a:solidFill>
          <a:ln w="17780">
            <a:solidFill>
              <a:srgbClr val="00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900" b="1">
                <a:solidFill>
                  <a:srgbClr val="23282E"/>
                </a:solidFill>
                <a:latin typeface="Aptos"/>
              </a:rPr>
              <a:t>Same application code
in every Pod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0" y="3429000"/>
            <a:ext cx="4206240" cy="914400"/>
          </a:xfrm>
          <a:prstGeom prst="roundRect">
            <a:avLst/>
          </a:prstGeom>
          <a:solidFill>
            <a:srgbClr val="FFF1DC"/>
          </a:solidFill>
          <a:ln w="17780">
            <a:solidFill>
              <a:srgbClr val="D27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23282E"/>
                </a:solidFill>
                <a:latin typeface="Aptos"/>
              </a:rPr>
              <a:t>Each Pod has separate memory;
Pods can be replaced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4983480"/>
            <a:ext cx="4114800" cy="5029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700" b="1">
                <a:solidFill>
                  <a:srgbClr val="B44141"/>
                </a:solidFill>
                <a:latin typeface="Aptos"/>
              </a:rPr>
              <a:t>How does login and account data persist?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029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r>
              <a:rPr sz="2700" b="1">
                <a:solidFill>
                  <a:srgbClr val="193152"/>
                </a:solidFill>
                <a:latin typeface="Aptos"/>
              </a:rPr>
              <a:t>2. Six questions to solve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04672"/>
            <a:ext cx="914400" cy="45720"/>
          </a:xfrm>
          <a:prstGeom prst="rect">
            <a:avLst/>
          </a:prstGeom>
          <a:solidFill>
            <a:srgbClr val="007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510528"/>
            <a:ext cx="640080" cy="164592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900" b="0">
                <a:solidFill>
                  <a:srgbClr val="5A6470"/>
                </a:solidFill>
                <a:latin typeface="Aptos"/>
              </a:rP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3337560" cy="640080"/>
          </a:xfrm>
          <a:prstGeom prst="roundRect">
            <a:avLst/>
          </a:prstGeom>
          <a:solidFill>
            <a:srgbClr val="E2EFFC"/>
          </a:solidFill>
          <a:ln w="17780">
            <a:solidFill>
              <a:srgbClr val="2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23282E"/>
                </a:solidFill>
                <a:latin typeface="Aptos"/>
              </a:rPr>
              <a:t>Routing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21991"/>
            <a:ext cx="3337560" cy="6583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600" b="0">
                <a:solidFill>
                  <a:srgbClr val="23282E"/>
                </a:solidFill>
                <a:latin typeface="Aptos"/>
              </a:rPr>
              <a:t>Which Pod gets a request?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508760"/>
            <a:ext cx="3337560" cy="640080"/>
          </a:xfrm>
          <a:prstGeom prst="roundRect">
            <a:avLst/>
          </a:prstGeom>
          <a:solidFill>
            <a:srgbClr val="E2EFFC"/>
          </a:solidFill>
          <a:ln w="17780">
            <a:solidFill>
              <a:srgbClr val="2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23282E"/>
                </a:solidFill>
                <a:latin typeface="Aptos"/>
              </a:rPr>
              <a:t>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221991"/>
            <a:ext cx="3337560" cy="6583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600" b="0">
                <a:solidFill>
                  <a:srgbClr val="23282E"/>
                </a:solidFill>
                <a:latin typeface="Aptos"/>
              </a:rPr>
              <a:t>How does login survive a Pod change?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508760"/>
            <a:ext cx="3337560" cy="640080"/>
          </a:xfrm>
          <a:prstGeom prst="roundRect">
            <a:avLst/>
          </a:prstGeom>
          <a:solidFill>
            <a:srgbClr val="E2EFFC"/>
          </a:solidFill>
          <a:ln w="17780">
            <a:solidFill>
              <a:srgbClr val="2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23282E"/>
                </a:solidFill>
                <a:latin typeface="Aptos"/>
              </a:rPr>
              <a:t>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221991"/>
            <a:ext cx="3337560" cy="6583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600" b="0">
                <a:solidFill>
                  <a:srgbClr val="23282E"/>
                </a:solidFill>
                <a:latin typeface="Aptos"/>
              </a:rPr>
              <a:t>Where is the real account balance?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566160"/>
            <a:ext cx="3337560" cy="640080"/>
          </a:xfrm>
          <a:prstGeom prst="roundRect">
            <a:avLst/>
          </a:prstGeom>
          <a:solidFill>
            <a:srgbClr val="E2EFFC"/>
          </a:solidFill>
          <a:ln w="17780">
            <a:solidFill>
              <a:srgbClr val="2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23282E"/>
                </a:solidFill>
                <a:latin typeface="Aptos"/>
              </a:rPr>
              <a:t>Correctness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79392"/>
            <a:ext cx="3337560" cy="6583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600" b="0">
                <a:solidFill>
                  <a:srgbClr val="23282E"/>
                </a:solidFill>
                <a:latin typeface="Aptos"/>
              </a:rPr>
              <a:t>How do we avoid duplicate/lost transfers?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3566160"/>
            <a:ext cx="3337560" cy="640080"/>
          </a:xfrm>
          <a:prstGeom prst="roundRect">
            <a:avLst/>
          </a:prstGeom>
          <a:solidFill>
            <a:srgbClr val="E2EFFC"/>
          </a:solidFill>
          <a:ln w="17780">
            <a:solidFill>
              <a:srgbClr val="2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23282E"/>
                </a:solidFill>
                <a:latin typeface="Aptos"/>
              </a:rPr>
              <a:t>Availability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279392"/>
            <a:ext cx="3337560" cy="6583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600" b="0">
                <a:solidFill>
                  <a:srgbClr val="23282E"/>
                </a:solidFill>
                <a:latin typeface="Aptos"/>
              </a:rPr>
              <a:t>What if a Pod or DB fails?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3566160"/>
            <a:ext cx="3337560" cy="640080"/>
          </a:xfrm>
          <a:prstGeom prst="roundRect">
            <a:avLst/>
          </a:prstGeom>
          <a:solidFill>
            <a:srgbClr val="E2EFFC"/>
          </a:solidFill>
          <a:ln w="17780">
            <a:solidFill>
              <a:srgbClr val="2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23282E"/>
                </a:solidFill>
                <a:latin typeface="Aptos"/>
              </a:rPr>
              <a:t>Recovery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279392"/>
            <a:ext cx="3337560" cy="6583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600" b="0">
                <a:solidFill>
                  <a:srgbClr val="23282E"/>
                </a:solidFill>
                <a:latin typeface="Aptos"/>
              </a:rPr>
              <a:t>What if data is deleted or corrupted?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897880"/>
            <a:ext cx="10241280" cy="3200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600" b="1">
                <a:solidFill>
                  <a:srgbClr val="193152"/>
                </a:solidFill>
                <a:latin typeface="Aptos"/>
              </a:rPr>
              <a:t>Kubernetes runs workloads; application and database design protect business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029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r>
              <a:rPr sz="2700" b="1">
                <a:solidFill>
                  <a:srgbClr val="193152"/>
                </a:solidFill>
                <a:latin typeface="Aptos"/>
              </a:rPr>
              <a:t>3. A Service routes requests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04672"/>
            <a:ext cx="914400" cy="45720"/>
          </a:xfrm>
          <a:prstGeom prst="rect">
            <a:avLst/>
          </a:prstGeom>
          <a:solidFill>
            <a:srgbClr val="007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77824"/>
            <a:ext cx="10972800" cy="3200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r>
              <a:rPr sz="1300" b="0">
                <a:solidFill>
                  <a:srgbClr val="5A6470"/>
                </a:solidFill>
                <a:latin typeface="Aptos"/>
              </a:rPr>
              <a:t>Clients use a stable Service endpoint—not individual Pod IP addresses.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10528"/>
            <a:ext cx="640080" cy="164592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900" b="0">
                <a:solidFill>
                  <a:srgbClr val="5A6470"/>
                </a:solidFill>
                <a:latin typeface="Aptos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743200"/>
            <a:ext cx="1645920" cy="822960"/>
          </a:xfrm>
          <a:prstGeom prst="roundRect">
            <a:avLst/>
          </a:prstGeom>
          <a:solidFill>
            <a:srgbClr val="F2F5F8"/>
          </a:solidFill>
          <a:ln w="17780">
            <a:solidFill>
              <a:srgbClr val="5A6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23282E"/>
                </a:solidFill>
                <a:latin typeface="Aptos"/>
              </a:rPr>
              <a:t>Client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2743200"/>
            <a:ext cx="2011680" cy="822960"/>
          </a:xfrm>
          <a:prstGeom prst="roundRect">
            <a:avLst/>
          </a:prstGeom>
          <a:solidFill>
            <a:srgbClr val="E2EFFC"/>
          </a:solidFill>
          <a:ln w="17780">
            <a:solidFill>
              <a:srgbClr val="2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23282E"/>
                </a:solidFill>
                <a:latin typeface="Aptos"/>
              </a:rPr>
              <a:t>ClusterIP
Service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508760"/>
            <a:ext cx="5303520" cy="3749039"/>
          </a:xfrm>
          <a:prstGeom prst="roundRect">
            <a:avLst/>
          </a:prstGeom>
          <a:noFill/>
          <a:ln w="17780">
            <a:solidFill>
              <a:srgbClr val="00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97880" y="1572768"/>
            <a:ext cx="4846320" cy="3200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400" b="1">
                <a:solidFill>
                  <a:srgbClr val="007D82"/>
                </a:solidFill>
                <a:latin typeface="Aptos"/>
              </a:rPr>
              <a:t>Deployment-managed application Pods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2240280"/>
            <a:ext cx="1645920" cy="731520"/>
          </a:xfrm>
          <a:prstGeom prst="roundRect">
            <a:avLst/>
          </a:prstGeom>
          <a:solidFill>
            <a:srgbClr val="DEF4F2"/>
          </a:solidFill>
          <a:ln w="17780">
            <a:solidFill>
              <a:srgbClr val="00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23282E"/>
                </a:solidFill>
                <a:latin typeface="Aptos"/>
              </a:rPr>
              <a:t>Pod 1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4937760" y="2606040"/>
            <a:ext cx="1097280" cy="548640"/>
          </a:xfrm>
          <a:prstGeom prst="line">
            <a:avLst/>
          </a:prstGeom>
          <a:ln w="2286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412480" y="2240280"/>
            <a:ext cx="1645920" cy="731520"/>
          </a:xfrm>
          <a:prstGeom prst="roundRect">
            <a:avLst/>
          </a:prstGeom>
          <a:solidFill>
            <a:srgbClr val="DEF4F2"/>
          </a:solidFill>
          <a:ln w="17780">
            <a:solidFill>
              <a:srgbClr val="00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23282E"/>
                </a:solidFill>
                <a:latin typeface="Aptos"/>
              </a:rPr>
              <a:t>Pod 2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4937760" y="2606040"/>
            <a:ext cx="3474720" cy="548640"/>
          </a:xfrm>
          <a:prstGeom prst="line">
            <a:avLst/>
          </a:prstGeom>
          <a:ln w="2286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035040" y="3657600"/>
            <a:ext cx="1645920" cy="731520"/>
          </a:xfrm>
          <a:prstGeom prst="roundRect">
            <a:avLst/>
          </a:prstGeom>
          <a:solidFill>
            <a:srgbClr val="DEF4F2"/>
          </a:solidFill>
          <a:ln w="17780">
            <a:solidFill>
              <a:srgbClr val="00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23282E"/>
                </a:solidFill>
                <a:latin typeface="Aptos"/>
              </a:rPr>
              <a:t>Pod 3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37760" y="3154680"/>
            <a:ext cx="1097280" cy="868680"/>
          </a:xfrm>
          <a:prstGeom prst="line">
            <a:avLst/>
          </a:prstGeom>
          <a:ln w="2286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412480" y="3657600"/>
            <a:ext cx="1645920" cy="731520"/>
          </a:xfrm>
          <a:prstGeom prst="roundRect">
            <a:avLst/>
          </a:prstGeom>
          <a:solidFill>
            <a:srgbClr val="DEF4F2"/>
          </a:solidFill>
          <a:ln w="17780">
            <a:solidFill>
              <a:srgbClr val="00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23282E"/>
                </a:solidFill>
                <a:latin typeface="Aptos"/>
              </a:rPr>
              <a:t>Pod 4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37760" y="3154680"/>
            <a:ext cx="3474720" cy="868680"/>
          </a:xfrm>
          <a:prstGeom prst="line">
            <a:avLst/>
          </a:prstGeom>
          <a:ln w="2286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240280" y="3154680"/>
            <a:ext cx="685800" cy="0"/>
          </a:xfrm>
          <a:prstGeom prst="line">
            <a:avLst/>
          </a:prstGeom>
          <a:ln w="2286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31520" y="5532120"/>
            <a:ext cx="10515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700" b="1">
                <a:solidFill>
                  <a:srgbClr val="B44141"/>
                </a:solidFill>
                <a:latin typeface="Aptos"/>
              </a:rPr>
              <a:t>Service = stable network address + traffic routing. It is not a database and does not replicate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029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r>
              <a:rPr sz="2700" b="1">
                <a:solidFill>
                  <a:srgbClr val="193152"/>
                </a:solidFill>
                <a:latin typeface="Aptos"/>
              </a:rPr>
              <a:t>4. Login can survive a Pod change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04672"/>
            <a:ext cx="914400" cy="45720"/>
          </a:xfrm>
          <a:prstGeom prst="rect">
            <a:avLst/>
          </a:prstGeom>
          <a:solidFill>
            <a:srgbClr val="007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77824"/>
            <a:ext cx="10972800" cy="3200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r>
              <a:rPr sz="1300" b="0">
                <a:solidFill>
                  <a:srgbClr val="5A6470"/>
                </a:solidFill>
                <a:latin typeface="Aptos"/>
              </a:rPr>
              <a:t>Do not keep the only copy of a session in one Pod's memory.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10528"/>
            <a:ext cx="640080" cy="164592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900" b="0">
                <a:solidFill>
                  <a:srgbClr val="5A6470"/>
                </a:solidFill>
                <a:latin typeface="Aptos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03120"/>
            <a:ext cx="2103120" cy="914400"/>
          </a:xfrm>
          <a:prstGeom prst="roundRect">
            <a:avLst/>
          </a:prstGeom>
          <a:solidFill>
            <a:srgbClr val="E2EFFC"/>
          </a:solidFill>
          <a:ln w="17780">
            <a:solidFill>
              <a:srgbClr val="2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23282E"/>
                </a:solidFill>
                <a:latin typeface="Aptos"/>
              </a:rPr>
              <a:t>Login at
Pod 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1600200"/>
            <a:ext cx="2926080" cy="960120"/>
          </a:xfrm>
          <a:prstGeom prst="roundRect">
            <a:avLst/>
          </a:prstGeom>
          <a:solidFill>
            <a:srgbClr val="DEF4F2"/>
          </a:solidFill>
          <a:ln w="17780">
            <a:solidFill>
              <a:srgbClr val="00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23282E"/>
                </a:solidFill>
                <a:latin typeface="Aptos"/>
              </a:rPr>
              <a:t>Option A: signed token
(e.g., JWT)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3337560"/>
            <a:ext cx="2926080" cy="960120"/>
          </a:xfrm>
          <a:prstGeom prst="roundRect">
            <a:avLst/>
          </a:prstGeom>
          <a:solidFill>
            <a:srgbClr val="FFF1DC"/>
          </a:solidFill>
          <a:ln w="17780">
            <a:solidFill>
              <a:srgbClr val="D27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23282E"/>
                </a:solidFill>
                <a:latin typeface="Aptos"/>
              </a:rPr>
              <a:t>Option B: shared session store
(e.g., Redis)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2103120"/>
            <a:ext cx="2560320" cy="914400"/>
          </a:xfrm>
          <a:prstGeom prst="roundRect">
            <a:avLst/>
          </a:prstGeom>
          <a:solidFill>
            <a:srgbClr val="E2EFFC"/>
          </a:solidFill>
          <a:ln w="17780">
            <a:solidFill>
              <a:srgbClr val="2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23282E"/>
                </a:solidFill>
                <a:latin typeface="Aptos"/>
              </a:rPr>
              <a:t>Next request at
Pod B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2697480" y="2057400"/>
            <a:ext cx="960120" cy="502920"/>
          </a:xfrm>
          <a:prstGeom prst="line">
            <a:avLst/>
          </a:prstGeom>
          <a:ln w="2286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697480" y="2560320"/>
            <a:ext cx="960120" cy="1234440"/>
          </a:xfrm>
          <a:prstGeom prst="line">
            <a:avLst/>
          </a:prstGeom>
          <a:ln w="2286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583680" y="2057400"/>
            <a:ext cx="1188720" cy="502920"/>
          </a:xfrm>
          <a:prstGeom prst="line">
            <a:avLst/>
          </a:prstGeom>
          <a:ln w="2286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6583680" y="2560320"/>
            <a:ext cx="1188720" cy="1234440"/>
          </a:xfrm>
          <a:prstGeom prst="line">
            <a:avLst/>
          </a:prstGeom>
          <a:ln w="2286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14400" y="5074920"/>
            <a:ext cx="1024128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700" b="1">
                <a:solidFill>
                  <a:srgbClr val="193152"/>
                </a:solidFill>
                <a:latin typeface="Aptos"/>
              </a:rPr>
              <a:t>Both approaches let another Pod validate the user. Authorization checks are still required.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029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r>
              <a:rPr sz="2700" b="1">
                <a:solidFill>
                  <a:srgbClr val="193152"/>
                </a:solidFill>
                <a:latin typeface="Aptos"/>
              </a:rPr>
              <a:t>5. Split the application into services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04672"/>
            <a:ext cx="914400" cy="45720"/>
          </a:xfrm>
          <a:prstGeom prst="rect">
            <a:avLst/>
          </a:prstGeom>
          <a:solidFill>
            <a:srgbClr val="007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77824"/>
            <a:ext cx="10972800" cy="3200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r>
              <a:rPr sz="1300" b="0">
                <a:solidFill>
                  <a:srgbClr val="5A6470"/>
                </a:solidFill>
                <a:latin typeface="Aptos"/>
              </a:rPr>
              <a:t>Illustrative design: each service owns a clear responsibility.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10528"/>
            <a:ext cx="640080" cy="164592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900" b="0">
                <a:solidFill>
                  <a:srgbClr val="5A6470"/>
                </a:solidFill>
                <a:latin typeface="Aptos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57400"/>
            <a:ext cx="2331720" cy="1051560"/>
          </a:xfrm>
          <a:prstGeom prst="roundRect">
            <a:avLst/>
          </a:prstGeom>
          <a:solidFill>
            <a:srgbClr val="E2EFFC"/>
          </a:solidFill>
          <a:ln w="17780">
            <a:solidFill>
              <a:srgbClr val="2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23282E"/>
                </a:solidFill>
                <a:latin typeface="Aptos"/>
              </a:rPr>
              <a:t>Login Service
identity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2057400"/>
            <a:ext cx="2331720" cy="1051560"/>
          </a:xfrm>
          <a:prstGeom prst="roundRect">
            <a:avLst/>
          </a:prstGeom>
          <a:solidFill>
            <a:srgbClr val="DEF4F2"/>
          </a:solidFill>
          <a:ln w="17780">
            <a:solidFill>
              <a:srgbClr val="00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23282E"/>
                </a:solidFill>
                <a:latin typeface="Aptos"/>
              </a:rPr>
              <a:t>Transfer Service
money movement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057400"/>
            <a:ext cx="2331720" cy="1051560"/>
          </a:xfrm>
          <a:prstGeom prst="roundRect">
            <a:avLst/>
          </a:prstGeom>
          <a:solidFill>
            <a:srgbClr val="FFF1DC"/>
          </a:solidFill>
          <a:ln w="17780">
            <a:solidFill>
              <a:srgbClr val="D27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23282E"/>
                </a:solidFill>
                <a:latin typeface="Aptos"/>
              </a:rPr>
              <a:t>Balance Service
balance query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06840" y="2057400"/>
            <a:ext cx="2331720" cy="1051560"/>
          </a:xfrm>
          <a:prstGeom prst="roundRect">
            <a:avLst/>
          </a:prstGeom>
          <a:solidFill>
            <a:srgbClr val="F2F5F8"/>
          </a:solidFill>
          <a:ln w="17780">
            <a:solidFill>
              <a:srgbClr val="5A6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23282E"/>
                </a:solidFill>
                <a:latin typeface="Aptos"/>
              </a:rPr>
              <a:t>Other services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34640" y="2578608"/>
            <a:ext cx="502920" cy="0"/>
          </a:xfrm>
          <a:prstGeom prst="line">
            <a:avLst/>
          </a:prstGeom>
          <a:ln w="2286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669280" y="2578608"/>
            <a:ext cx="502920" cy="0"/>
          </a:xfrm>
          <a:prstGeom prst="line">
            <a:avLst/>
          </a:prstGeom>
          <a:ln w="2286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503920" y="2578608"/>
            <a:ext cx="502920" cy="0"/>
          </a:xfrm>
          <a:prstGeom prst="line">
            <a:avLst/>
          </a:prstGeom>
          <a:ln w="2286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14400" y="3886200"/>
            <a:ext cx="10241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3282E"/>
                </a:solidFill>
                <a:latin typeface="Aptos"/>
              </a:defRPr>
            </a:pPr>
            <a:r>
              <a:t>•  Microservices can scale independently.</a:t>
            </a:r>
          </a:p>
          <a:p>
            <a:pPr>
              <a:spcAft>
                <a:spcPts val="1300"/>
              </a:spcAft>
              <a:defRPr sz="1800">
                <a:solidFill>
                  <a:srgbClr val="23282E"/>
                </a:solidFill>
                <a:latin typeface="Aptos"/>
              </a:defRPr>
            </a:pPr>
            <a:r>
              <a:t>•  They also add network calls, monitoring and coordination complexity.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029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r>
              <a:rPr sz="2700" b="1">
                <a:solidFill>
                  <a:srgbClr val="193152"/>
                </a:solidFill>
                <a:latin typeface="Aptos"/>
              </a:rPr>
              <a:t>6. Who owns which database?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04672"/>
            <a:ext cx="914400" cy="45720"/>
          </a:xfrm>
          <a:prstGeom prst="rect">
            <a:avLst/>
          </a:prstGeom>
          <a:solidFill>
            <a:srgbClr val="007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77824"/>
            <a:ext cx="10972800" cy="3200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r>
              <a:rPr sz="1300" b="0">
                <a:solidFill>
                  <a:srgbClr val="5A6470"/>
                </a:solidFill>
                <a:latin typeface="Aptos"/>
              </a:rPr>
              <a:t>A common microservice pattern is database-per-service.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10528"/>
            <a:ext cx="640080" cy="164592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900" b="0">
                <a:solidFill>
                  <a:srgbClr val="5A6470"/>
                </a:solidFill>
                <a:latin typeface="Aptos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2560320" cy="731520"/>
          </a:xfrm>
          <a:prstGeom prst="roundRect">
            <a:avLst/>
          </a:prstGeom>
          <a:solidFill>
            <a:srgbClr val="E2EFFC"/>
          </a:solidFill>
          <a:ln w="17780">
            <a:solidFill>
              <a:srgbClr val="2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23282E"/>
                </a:solidFill>
                <a:latin typeface="Aptos"/>
              </a:rPr>
              <a:t>Login Service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08760"/>
            <a:ext cx="2560320" cy="731520"/>
          </a:xfrm>
          <a:prstGeom prst="roundRect">
            <a:avLst/>
          </a:prstGeom>
          <a:solidFill>
            <a:srgbClr val="E2EFFC"/>
          </a:solidFill>
          <a:ln w="17780">
            <a:solidFill>
              <a:srgbClr val="2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23282E"/>
                </a:solidFill>
                <a:latin typeface="Aptos"/>
              </a:rPr>
              <a:t>Users DB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91840" y="1874519"/>
            <a:ext cx="1097280" cy="0"/>
          </a:xfrm>
          <a:prstGeom prst="line">
            <a:avLst/>
          </a:prstGeom>
          <a:ln w="2286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31520" y="2971800"/>
            <a:ext cx="2560320" cy="731520"/>
          </a:xfrm>
          <a:prstGeom prst="roundRect">
            <a:avLst/>
          </a:prstGeom>
          <a:solidFill>
            <a:srgbClr val="DEF4F2"/>
          </a:solidFill>
          <a:ln w="17780">
            <a:solidFill>
              <a:srgbClr val="00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23282E"/>
                </a:solidFill>
                <a:latin typeface="Aptos"/>
              </a:rPr>
              <a:t>Transfer Service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971800"/>
            <a:ext cx="2560320" cy="731520"/>
          </a:xfrm>
          <a:prstGeom prst="roundRect">
            <a:avLst/>
          </a:prstGeom>
          <a:solidFill>
            <a:srgbClr val="DEF4F2"/>
          </a:solidFill>
          <a:ln w="17780">
            <a:solidFill>
              <a:srgbClr val="00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23282E"/>
                </a:solidFill>
                <a:latin typeface="Aptos"/>
              </a:rPr>
              <a:t>Transfers DB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91840" y="3337560"/>
            <a:ext cx="1097280" cy="0"/>
          </a:xfrm>
          <a:prstGeom prst="line">
            <a:avLst/>
          </a:prstGeom>
          <a:ln w="2286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31520" y="4434840"/>
            <a:ext cx="2560320" cy="731520"/>
          </a:xfrm>
          <a:prstGeom prst="roundRect">
            <a:avLst/>
          </a:prstGeom>
          <a:solidFill>
            <a:srgbClr val="FFF1DC"/>
          </a:solidFill>
          <a:ln w="17780">
            <a:solidFill>
              <a:srgbClr val="D27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23282E"/>
                </a:solidFill>
                <a:latin typeface="Aptos"/>
              </a:rPr>
              <a:t>Balance Service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4434840"/>
            <a:ext cx="2560320" cy="731520"/>
          </a:xfrm>
          <a:prstGeom prst="roundRect">
            <a:avLst/>
          </a:prstGeom>
          <a:solidFill>
            <a:srgbClr val="FFF1DC"/>
          </a:solidFill>
          <a:ln w="17780">
            <a:solidFill>
              <a:srgbClr val="D27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23282E"/>
                </a:solidFill>
                <a:latin typeface="Aptos"/>
              </a:rPr>
              <a:t>Accounts DB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91840" y="4800600"/>
            <a:ext cx="1097280" cy="0"/>
          </a:xfrm>
          <a:prstGeom prst="line">
            <a:avLst/>
          </a:prstGeom>
          <a:ln w="2286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589520" y="1828800"/>
            <a:ext cx="3474720" cy="1097280"/>
          </a:xfrm>
          <a:prstGeom prst="roundRect">
            <a:avLst/>
          </a:prstGeom>
          <a:solidFill>
            <a:srgbClr val="F2F5F8"/>
          </a:solidFill>
          <a:ln w="17780">
            <a:solidFill>
              <a:srgbClr val="5A6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23282E"/>
                </a:solidFill>
                <a:latin typeface="Aptos"/>
              </a:rPr>
              <a:t>Other services use APIs
or events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3657600"/>
            <a:ext cx="3474720" cy="1097280"/>
          </a:xfrm>
          <a:prstGeom prst="roundRect">
            <a:avLst/>
          </a:prstGeom>
          <a:solidFill>
            <a:srgbClr val="FCE7E7"/>
          </a:solidFill>
          <a:ln w="17780">
            <a:solidFill>
              <a:srgbClr val="B4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23282E"/>
                </a:solidFill>
                <a:latin typeface="Aptos"/>
              </a:rPr>
              <a:t>Avoid direct access to
another service's private 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5166360"/>
            <a:ext cx="3383280" cy="4114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500" b="0">
                <a:solidFill>
                  <a:srgbClr val="5A6470"/>
                </a:solidFill>
                <a:latin typeface="Aptos"/>
              </a:rPr>
              <a:t>Logical ownership matters most.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029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r>
              <a:rPr sz="2700" b="1">
                <a:solidFill>
                  <a:srgbClr val="193152"/>
                </a:solidFill>
                <a:latin typeface="Aptos"/>
              </a:rPr>
              <a:t>7. Five Transfer Pods can share one DB endpoint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04672"/>
            <a:ext cx="914400" cy="45720"/>
          </a:xfrm>
          <a:prstGeom prst="rect">
            <a:avLst/>
          </a:prstGeom>
          <a:solidFill>
            <a:srgbClr val="007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77824"/>
            <a:ext cx="10972800" cy="3200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r>
              <a:rPr sz="1300" b="0">
                <a:solidFill>
                  <a:srgbClr val="5A6470"/>
                </a:solidFill>
                <a:latin typeface="Aptos"/>
              </a:rPr>
              <a:t>App replicas are not five separate databases.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10528"/>
            <a:ext cx="640080" cy="164592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900" b="0">
                <a:solidFill>
                  <a:srgbClr val="5A6470"/>
                </a:solidFill>
                <a:latin typeface="Aptos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743200"/>
            <a:ext cx="1645920" cy="822960"/>
          </a:xfrm>
          <a:prstGeom prst="roundRect">
            <a:avLst/>
          </a:prstGeom>
          <a:solidFill>
            <a:srgbClr val="E2EFFC"/>
          </a:solidFill>
          <a:ln w="17780">
            <a:solidFill>
              <a:srgbClr val="2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23282E"/>
                </a:solidFill>
                <a:latin typeface="Aptos"/>
              </a:rPr>
              <a:t>Transfer
Service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508760"/>
            <a:ext cx="1554480" cy="658368"/>
          </a:xfrm>
          <a:prstGeom prst="roundRect">
            <a:avLst/>
          </a:prstGeom>
          <a:solidFill>
            <a:srgbClr val="DEF4F2"/>
          </a:solidFill>
          <a:ln w="17780">
            <a:solidFill>
              <a:srgbClr val="00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23282E"/>
                </a:solidFill>
                <a:latin typeface="Aptos"/>
              </a:rPr>
              <a:t>Transfer Pod 1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148840" y="1837943"/>
            <a:ext cx="594360" cy="1316737"/>
          </a:xfrm>
          <a:prstGeom prst="line">
            <a:avLst/>
          </a:prstGeom>
          <a:ln w="2286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754880" y="1508760"/>
            <a:ext cx="1554480" cy="658368"/>
          </a:xfrm>
          <a:prstGeom prst="roundRect">
            <a:avLst/>
          </a:prstGeom>
          <a:solidFill>
            <a:srgbClr val="DEF4F2"/>
          </a:solidFill>
          <a:ln w="17780">
            <a:solidFill>
              <a:srgbClr val="00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23282E"/>
                </a:solidFill>
                <a:latin typeface="Aptos"/>
              </a:rPr>
              <a:t>Transfer Pod 2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2148840" y="1837943"/>
            <a:ext cx="2606040" cy="1316737"/>
          </a:xfrm>
          <a:prstGeom prst="line">
            <a:avLst/>
          </a:prstGeom>
          <a:ln w="2286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743200" y="3840480"/>
            <a:ext cx="1554480" cy="658368"/>
          </a:xfrm>
          <a:prstGeom prst="roundRect">
            <a:avLst/>
          </a:prstGeom>
          <a:solidFill>
            <a:srgbClr val="DEF4F2"/>
          </a:solidFill>
          <a:ln w="17780">
            <a:solidFill>
              <a:srgbClr val="00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23282E"/>
                </a:solidFill>
                <a:latin typeface="Aptos"/>
              </a:rPr>
              <a:t>Transfer Pod 3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148840" y="3154680"/>
            <a:ext cx="594360" cy="1014984"/>
          </a:xfrm>
          <a:prstGeom prst="line">
            <a:avLst/>
          </a:prstGeom>
          <a:ln w="2286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754880" y="3840480"/>
            <a:ext cx="1554480" cy="658368"/>
          </a:xfrm>
          <a:prstGeom prst="roundRect">
            <a:avLst/>
          </a:prstGeom>
          <a:solidFill>
            <a:srgbClr val="DEF4F2"/>
          </a:solidFill>
          <a:ln w="17780">
            <a:solidFill>
              <a:srgbClr val="00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23282E"/>
                </a:solidFill>
                <a:latin typeface="Aptos"/>
              </a:rPr>
              <a:t>Transfer Pod 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148840" y="3154680"/>
            <a:ext cx="2606040" cy="1014984"/>
          </a:xfrm>
          <a:prstGeom prst="line">
            <a:avLst/>
          </a:prstGeom>
          <a:ln w="2286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749039" y="2697480"/>
            <a:ext cx="1554480" cy="658368"/>
          </a:xfrm>
          <a:prstGeom prst="roundRect">
            <a:avLst/>
          </a:prstGeom>
          <a:solidFill>
            <a:srgbClr val="DEF4F2"/>
          </a:solidFill>
          <a:ln w="17780">
            <a:solidFill>
              <a:srgbClr val="00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23282E"/>
                </a:solidFill>
                <a:latin typeface="Aptos"/>
              </a:rPr>
              <a:t>Transfer Pod 5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2148840" y="3026664"/>
            <a:ext cx="1600199" cy="128016"/>
          </a:xfrm>
          <a:prstGeom prst="line">
            <a:avLst/>
          </a:prstGeom>
          <a:ln w="2286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680960" y="2514600"/>
            <a:ext cx="3108960" cy="1097280"/>
          </a:xfrm>
          <a:prstGeom prst="roundRect">
            <a:avLst/>
          </a:prstGeom>
          <a:solidFill>
            <a:srgbClr val="FFF1DC"/>
          </a:solidFill>
          <a:ln w="17780">
            <a:solidFill>
              <a:srgbClr val="D27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23282E"/>
                </a:solidFill>
                <a:latin typeface="Aptos"/>
              </a:rPr>
              <a:t>Database ClusterIP
(stable endpoint)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297680" y="2167128"/>
            <a:ext cx="3383280" cy="896112"/>
          </a:xfrm>
          <a:prstGeom prst="line">
            <a:avLst/>
          </a:prstGeom>
          <a:ln w="13970">
            <a:solidFill>
              <a:srgbClr val="D2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309360" y="2167128"/>
            <a:ext cx="1371600" cy="896112"/>
          </a:xfrm>
          <a:prstGeom prst="line">
            <a:avLst/>
          </a:prstGeom>
          <a:ln w="13970">
            <a:solidFill>
              <a:srgbClr val="D2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4297680" y="3063240"/>
            <a:ext cx="3383280" cy="1106423"/>
          </a:xfrm>
          <a:prstGeom prst="line">
            <a:avLst/>
          </a:prstGeom>
          <a:ln w="13970">
            <a:solidFill>
              <a:srgbClr val="D2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6309360" y="3063240"/>
            <a:ext cx="1371600" cy="1106423"/>
          </a:xfrm>
          <a:prstGeom prst="line">
            <a:avLst/>
          </a:prstGeom>
          <a:ln w="13970">
            <a:solidFill>
              <a:srgbClr val="D2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303520" y="3026664"/>
            <a:ext cx="2377440" cy="36576"/>
          </a:xfrm>
          <a:prstGeom prst="line">
            <a:avLst/>
          </a:prstGeom>
          <a:ln w="13970">
            <a:solidFill>
              <a:srgbClr val="D2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543800" y="4069080"/>
            <a:ext cx="3474720" cy="7772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600" b="0">
                <a:solidFill>
                  <a:srgbClr val="5A6470"/>
                </a:solidFill>
                <a:latin typeface="Aptos"/>
              </a:rPr>
              <a:t>May point to one DB instance
or a database-aware HA setup.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623560"/>
            <a:ext cx="10515600" cy="3657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600" b="1">
                <a:solidFill>
                  <a:srgbClr val="B44141"/>
                </a:solidFill>
                <a:latin typeface="Aptos"/>
              </a:rPr>
              <a:t>ClusterIP gives a stable endpoint; it does not configure replication or failover.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029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r>
              <a:rPr sz="2700" b="1">
                <a:solidFill>
                  <a:srgbClr val="193152"/>
                </a:solidFill>
                <a:latin typeface="Aptos"/>
              </a:rPr>
              <a:t>8. Correct routing does not guarantee correct transfers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04672"/>
            <a:ext cx="914400" cy="45720"/>
          </a:xfrm>
          <a:prstGeom prst="rect">
            <a:avLst/>
          </a:prstGeom>
          <a:solidFill>
            <a:srgbClr val="007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510528"/>
            <a:ext cx="640080" cy="164592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900" b="0">
                <a:solidFill>
                  <a:srgbClr val="5A6470"/>
                </a:solidFill>
                <a:latin typeface="Aptos"/>
              </a:rP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2286000" cy="914400"/>
          </a:xfrm>
          <a:prstGeom prst="roundRect">
            <a:avLst/>
          </a:prstGeom>
          <a:solidFill>
            <a:srgbClr val="E2EFFC"/>
          </a:solidFill>
          <a:ln w="17780">
            <a:solidFill>
              <a:srgbClr val="2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900" b="1">
                <a:solidFill>
                  <a:srgbClr val="23282E"/>
                </a:solidFill>
                <a:latin typeface="Aptos"/>
              </a:rPr>
              <a:t>Account A
₹10,000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920240"/>
            <a:ext cx="2286000" cy="914400"/>
          </a:xfrm>
          <a:prstGeom prst="roundRect">
            <a:avLst/>
          </a:prstGeom>
          <a:solidFill>
            <a:srgbClr val="DEF4F2"/>
          </a:solidFill>
          <a:ln w="17780">
            <a:solidFill>
              <a:srgbClr val="00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900" b="1">
                <a:solidFill>
                  <a:srgbClr val="23282E"/>
                </a:solidFill>
                <a:latin typeface="Aptos"/>
              </a:rPr>
              <a:t>Transfer
₹2,000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1920240"/>
            <a:ext cx="2286000" cy="914400"/>
          </a:xfrm>
          <a:prstGeom prst="roundRect">
            <a:avLst/>
          </a:prstGeom>
          <a:solidFill>
            <a:srgbClr val="FFF1DC"/>
          </a:solidFill>
          <a:ln w="17780">
            <a:solidFill>
              <a:srgbClr val="D27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900" b="1">
                <a:solidFill>
                  <a:srgbClr val="23282E"/>
                </a:solidFill>
                <a:latin typeface="Aptos"/>
              </a:rPr>
              <a:t>Account B
₹1,000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26080" y="2377440"/>
            <a:ext cx="1645920" cy="0"/>
          </a:xfrm>
          <a:prstGeom prst="line">
            <a:avLst/>
          </a:prstGeom>
          <a:ln w="2286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858000" y="2377440"/>
            <a:ext cx="1645920" cy="0"/>
          </a:xfrm>
          <a:prstGeom prst="line">
            <a:avLst/>
          </a:prstGeom>
          <a:ln w="2286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14400" y="3657600"/>
            <a:ext cx="10241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3282E"/>
                </a:solidFill>
                <a:latin typeface="Aptos"/>
              </a:defRPr>
            </a:pPr>
            <a:r>
              <a:t>•  Use database transactions for debit and credit.</a:t>
            </a:r>
          </a:p>
          <a:p>
            <a:pPr>
              <a:spcAft>
                <a:spcPts val="1300"/>
              </a:spcAft>
              <a:defRPr sz="1800">
                <a:solidFill>
                  <a:srgbClr val="23282E"/>
                </a:solidFill>
                <a:latin typeface="Aptos"/>
              </a:defRPr>
            </a:pPr>
            <a:r>
              <a:t>•  Prevent duplicate requests with idempotency / a unique request ID.</a:t>
            </a:r>
          </a:p>
          <a:p>
            <a:pPr>
              <a:spcAft>
                <a:spcPts val="1300"/>
              </a:spcAft>
              <a:defRPr sz="1800">
                <a:solidFill>
                  <a:srgbClr val="23282E"/>
                </a:solidFill>
                <a:latin typeface="Aptos"/>
              </a:defRPr>
            </a:pPr>
            <a:r>
              <a:t>•  Check authorization, sufficient funds and concurrent updates.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897880"/>
            <a:ext cx="10241280" cy="3200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600" b="1">
                <a:solidFill>
                  <a:srgbClr val="B44141"/>
                </a:solidFill>
                <a:latin typeface="Aptos"/>
              </a:rPr>
              <a:t>Kubernetes does not automatically provide banking transaction correctness.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029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r>
              <a:rPr sz="2700" b="1">
                <a:solidFill>
                  <a:srgbClr val="193152"/>
                </a:solidFill>
                <a:latin typeface="Aptos"/>
              </a:rPr>
              <a:t>9. Persistent storage protects data from Pod replacement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04672"/>
            <a:ext cx="914400" cy="45720"/>
          </a:xfrm>
          <a:prstGeom prst="rect">
            <a:avLst/>
          </a:prstGeom>
          <a:solidFill>
            <a:srgbClr val="007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510528"/>
            <a:ext cx="640080" cy="164592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900" b="0">
                <a:solidFill>
                  <a:srgbClr val="5A6470"/>
                </a:solidFill>
                <a:latin typeface="Aptos"/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65960"/>
            <a:ext cx="2286000" cy="914400"/>
          </a:xfrm>
          <a:prstGeom prst="roundRect">
            <a:avLst/>
          </a:prstGeom>
          <a:solidFill>
            <a:srgbClr val="E2EFFC"/>
          </a:solidFill>
          <a:ln w="17780">
            <a:solidFill>
              <a:srgbClr val="2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900" b="1">
                <a:solidFill>
                  <a:srgbClr val="23282E"/>
                </a:solidFill>
                <a:latin typeface="Aptos"/>
              </a:rPr>
              <a:t>MySQL Pod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1965960"/>
            <a:ext cx="2468880" cy="914400"/>
          </a:xfrm>
          <a:prstGeom prst="roundRect">
            <a:avLst/>
          </a:prstGeom>
          <a:solidFill>
            <a:srgbClr val="DEF4F2"/>
          </a:solidFill>
          <a:ln w="17780">
            <a:solidFill>
              <a:srgbClr val="00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23282E"/>
                </a:solidFill>
                <a:latin typeface="Aptos"/>
              </a:rPr>
              <a:t>PVC
(storage request)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965960"/>
            <a:ext cx="2560320" cy="914400"/>
          </a:xfrm>
          <a:prstGeom prst="roundRect">
            <a:avLst/>
          </a:prstGeom>
          <a:solidFill>
            <a:srgbClr val="FFF1DC"/>
          </a:solidFill>
          <a:ln w="17780">
            <a:solidFill>
              <a:srgbClr val="D27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23282E"/>
                </a:solidFill>
                <a:latin typeface="Aptos"/>
              </a:rPr>
              <a:t>PV / durable
storage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360" y="2423160"/>
            <a:ext cx="777240" cy="0"/>
          </a:xfrm>
          <a:prstGeom prst="line">
            <a:avLst/>
          </a:prstGeom>
          <a:ln w="2286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126480" y="2423160"/>
            <a:ext cx="1188720" cy="0"/>
          </a:xfrm>
          <a:prstGeom prst="line">
            <a:avLst/>
          </a:prstGeom>
          <a:ln w="2286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43200" y="3794760"/>
            <a:ext cx="6217920" cy="914400"/>
          </a:xfrm>
          <a:prstGeom prst="roundRect">
            <a:avLst/>
          </a:prstGeom>
          <a:solidFill>
            <a:srgbClr val="E6F5EA"/>
          </a:solidFill>
          <a:ln w="17780">
            <a:solidFill>
              <a:srgbClr val="00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23282E"/>
                </a:solidFill>
                <a:latin typeface="Aptos"/>
              </a:rPr>
              <a:t>Delete / recreate Pod → mount the same persistent data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737360" y="2880360"/>
            <a:ext cx="2103120" cy="914400"/>
          </a:xfrm>
          <a:prstGeom prst="line">
            <a:avLst/>
          </a:prstGeom>
          <a:ln w="2286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7680960" y="2880360"/>
            <a:ext cx="822960" cy="914400"/>
          </a:xfrm>
          <a:prstGeom prst="line">
            <a:avLst/>
          </a:prstGeom>
          <a:ln w="2286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14400" y="5303520"/>
            <a:ext cx="102412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700" b="1">
                <a:solidFill>
                  <a:srgbClr val="193152"/>
                </a:solidFill>
                <a:latin typeface="Aptos"/>
              </a:rPr>
              <a:t>PVC/PV helps data survive Pod replacement. It does not by itself provide replication, failover or backups.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029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r>
              <a:rPr sz="2700" b="1">
                <a:solidFill>
                  <a:srgbClr val="193152"/>
                </a:solidFill>
                <a:latin typeface="Aptos"/>
              </a:rPr>
              <a:t>10. Persistence, availability and backup are different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04672"/>
            <a:ext cx="914400" cy="45720"/>
          </a:xfrm>
          <a:prstGeom prst="rect">
            <a:avLst/>
          </a:prstGeom>
          <a:solidFill>
            <a:srgbClr val="007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510528"/>
            <a:ext cx="640080" cy="164592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900" b="0">
                <a:solidFill>
                  <a:srgbClr val="5A6470"/>
                </a:solidFill>
                <a:latin typeface="Aptos"/>
              </a:rP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45920"/>
            <a:ext cx="3337560" cy="731520"/>
          </a:xfrm>
          <a:prstGeom prst="roundRect">
            <a:avLst/>
          </a:prstGeom>
          <a:solidFill>
            <a:srgbClr val="E2EFFC"/>
          </a:solidFill>
          <a:ln w="17780">
            <a:solidFill>
              <a:srgbClr val="2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23282E"/>
                </a:solidFill>
                <a:latin typeface="Aptos"/>
              </a:rPr>
              <a:t>Persistent volume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14600"/>
            <a:ext cx="3337560" cy="6400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600" b="0">
                <a:solidFill>
                  <a:srgbClr val="23282E"/>
                </a:solidFill>
                <a:latin typeface="Aptos"/>
              </a:rPr>
              <a:t>Survive Pod recreation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645920"/>
            <a:ext cx="3337560" cy="731520"/>
          </a:xfrm>
          <a:prstGeom prst="roundRect">
            <a:avLst/>
          </a:prstGeom>
          <a:solidFill>
            <a:srgbClr val="DEF4F2"/>
          </a:solidFill>
          <a:ln w="17780">
            <a:solidFill>
              <a:srgbClr val="00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23282E"/>
                </a:solidFill>
                <a:latin typeface="Aptos"/>
              </a:rPr>
              <a:t>DB replica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2514600"/>
            <a:ext cx="3337560" cy="6400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600" b="0">
                <a:solidFill>
                  <a:srgbClr val="23282E"/>
                </a:solidFill>
                <a:latin typeface="Aptos"/>
              </a:rPr>
              <a:t>Help with instance failure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1645920"/>
            <a:ext cx="3337560" cy="731520"/>
          </a:xfrm>
          <a:prstGeom prst="roundRect">
            <a:avLst/>
          </a:prstGeom>
          <a:solidFill>
            <a:srgbClr val="FFF1DC"/>
          </a:solidFill>
          <a:ln w="17780">
            <a:solidFill>
              <a:srgbClr val="D27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23282E"/>
                </a:solidFill>
                <a:latin typeface="Aptos"/>
              </a:rPr>
              <a:t>Failover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2514600"/>
            <a:ext cx="3337560" cy="6400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600" b="0">
                <a:solidFill>
                  <a:srgbClr val="23282E"/>
                </a:solidFill>
                <a:latin typeface="Aptos"/>
              </a:rPr>
              <a:t>Reduce downtime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3977639"/>
            <a:ext cx="3657600" cy="914400"/>
          </a:xfrm>
          <a:prstGeom prst="roundRect">
            <a:avLst/>
          </a:prstGeom>
          <a:solidFill>
            <a:srgbClr val="E6F5EA"/>
          </a:solidFill>
          <a:ln w="17780">
            <a:solidFill>
              <a:srgbClr val="00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23282E"/>
                </a:solidFill>
                <a:latin typeface="Aptos"/>
              </a:rPr>
              <a:t>Backups
Recover lost / corrupted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3977639"/>
            <a:ext cx="3657600" cy="914400"/>
          </a:xfrm>
          <a:prstGeom prst="roundRect">
            <a:avLst/>
          </a:prstGeom>
          <a:solidFill>
            <a:srgbClr val="FCE7E7"/>
          </a:solidFill>
          <a:ln w="17780">
            <a:solidFill>
              <a:srgbClr val="B4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23282E"/>
                </a:solidFill>
                <a:latin typeface="Aptos"/>
              </a:rPr>
              <a:t>Restore testing
Prove recovery works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029200" y="4434840"/>
            <a:ext cx="1920240" cy="0"/>
          </a:xfrm>
          <a:prstGeom prst="line">
            <a:avLst/>
          </a:prstGeom>
          <a:ln w="2286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14400" y="5623560"/>
            <a:ext cx="10241280" cy="4114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800" b="1">
                <a:solidFill>
                  <a:srgbClr val="B44141"/>
                </a:solidFill>
                <a:latin typeface="Aptos"/>
              </a:rPr>
              <a:t>Restarting a database Pod is not the same as having a highly available database.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029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r>
              <a:rPr sz="2700" b="1">
                <a:solidFill>
                  <a:srgbClr val="193152"/>
                </a:solidFill>
                <a:latin typeface="Aptos"/>
              </a:rPr>
              <a:t>11. How is this handled in production?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04672"/>
            <a:ext cx="914400" cy="45720"/>
          </a:xfrm>
          <a:prstGeom prst="rect">
            <a:avLst/>
          </a:prstGeom>
          <a:solidFill>
            <a:srgbClr val="007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510528"/>
            <a:ext cx="640080" cy="164592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900" b="0">
                <a:solidFill>
                  <a:srgbClr val="5A6470"/>
                </a:solidFill>
                <a:latin typeface="Aptos"/>
              </a:rP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3429000" cy="1234440"/>
          </a:xfrm>
          <a:prstGeom prst="roundRect">
            <a:avLst/>
          </a:prstGeom>
          <a:solidFill>
            <a:srgbClr val="E2EFFC"/>
          </a:solidFill>
          <a:ln w="17780">
            <a:solidFill>
              <a:srgbClr val="2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23282E"/>
                </a:solidFill>
                <a:latin typeface="Aptos"/>
              </a:rPr>
              <a:t>Managed database
Provider handles much of
availability and operations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737360"/>
            <a:ext cx="3429000" cy="1234440"/>
          </a:xfrm>
          <a:prstGeom prst="roundRect">
            <a:avLst/>
          </a:prstGeom>
          <a:solidFill>
            <a:srgbClr val="DEF4F2"/>
          </a:solidFill>
          <a:ln w="17780">
            <a:solidFill>
              <a:srgbClr val="00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23282E"/>
                </a:solidFill>
                <a:latin typeface="Aptos"/>
              </a:rPr>
              <a:t>Database operator / StatefulSet
Requires database-aware
replication and failover setup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79" y="1737360"/>
            <a:ext cx="3429000" cy="1234440"/>
          </a:xfrm>
          <a:prstGeom prst="roundRect">
            <a:avLst/>
          </a:prstGeom>
          <a:solidFill>
            <a:srgbClr val="FFF1DC"/>
          </a:solidFill>
          <a:ln w="17780">
            <a:solidFill>
              <a:srgbClr val="D27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23282E"/>
                </a:solidFill>
                <a:latin typeface="Aptos"/>
              </a:rPr>
              <a:t>Single DB + PVC
Good for a simple lab;
not high availability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94760"/>
            <a:ext cx="10241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3282E"/>
                </a:solidFill>
                <a:latin typeface="Aptos"/>
              </a:defRPr>
            </a:pPr>
            <a:r>
              <a:t>•  Plan access control, monitoring, backups and upgrades.</a:t>
            </a:r>
          </a:p>
          <a:p>
            <a:pPr>
              <a:spcAft>
                <a:spcPts val="1300"/>
              </a:spcAft>
              <a:defRPr sz="1800">
                <a:solidFill>
                  <a:srgbClr val="23282E"/>
                </a:solidFill>
                <a:latin typeface="Aptos"/>
              </a:defRPr>
            </a:pPr>
            <a:r>
              <a:t>•  Keep backups separate from the primary database.</a:t>
            </a:r>
          </a:p>
          <a:p>
            <a:pPr>
              <a:spcAft>
                <a:spcPts val="1300"/>
              </a:spcAft>
              <a:defRPr sz="1800">
                <a:solidFill>
                  <a:srgbClr val="23282E"/>
                </a:solidFill>
                <a:latin typeface="Aptos"/>
              </a:defRPr>
            </a:pPr>
            <a:r>
              <a:t>•  Test restoring data—not just taking backups.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760720"/>
            <a:ext cx="10241280" cy="3657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500" b="1">
                <a:solidFill>
                  <a:srgbClr val="B44141"/>
                </a:solidFill>
                <a:latin typeface="Aptos"/>
              </a:rPr>
              <a:t>StatefulSet gives stable identity/storage; it does not automatically create DB replication or leader election.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029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r>
              <a:rPr sz="2700" b="1">
                <a:solidFill>
                  <a:srgbClr val="193152"/>
                </a:solidFill>
                <a:latin typeface="Aptos"/>
              </a:rPr>
              <a:t>12. Putting it all together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04672"/>
            <a:ext cx="914400" cy="45720"/>
          </a:xfrm>
          <a:prstGeom prst="rect">
            <a:avLst/>
          </a:prstGeom>
          <a:solidFill>
            <a:srgbClr val="007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77824"/>
            <a:ext cx="10972800" cy="3200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r>
              <a:rPr sz="1300" b="0">
                <a:solidFill>
                  <a:srgbClr val="5A6470"/>
                </a:solidFill>
                <a:latin typeface="Aptos"/>
              </a:rPr>
              <a:t>A simplified learning architecture.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10528"/>
            <a:ext cx="640080" cy="164592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900" b="0">
                <a:solidFill>
                  <a:srgbClr val="5A6470"/>
                </a:solidFill>
                <a:latin typeface="Aptos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743200"/>
            <a:ext cx="1417320" cy="731520"/>
          </a:xfrm>
          <a:prstGeom prst="roundRect">
            <a:avLst/>
          </a:prstGeom>
          <a:solidFill>
            <a:srgbClr val="F2F5F8"/>
          </a:solidFill>
          <a:ln w="17780">
            <a:solidFill>
              <a:srgbClr val="5A6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23282E"/>
                </a:solidFill>
                <a:latin typeface="Aptos"/>
              </a:rPr>
              <a:t>Client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40280" y="2743200"/>
            <a:ext cx="1737360" cy="731520"/>
          </a:xfrm>
          <a:prstGeom prst="roundRect">
            <a:avLst/>
          </a:prstGeom>
          <a:solidFill>
            <a:srgbClr val="E2EFFC"/>
          </a:solidFill>
          <a:ln w="17780">
            <a:solidFill>
              <a:srgbClr val="2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23282E"/>
                </a:solidFill>
                <a:latin typeface="Aptos"/>
              </a:rPr>
              <a:t>App Service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508760"/>
            <a:ext cx="1417320" cy="658368"/>
          </a:xfrm>
          <a:prstGeom prst="roundRect">
            <a:avLst/>
          </a:prstGeom>
          <a:solidFill>
            <a:srgbClr val="DEF4F2"/>
          </a:solidFill>
          <a:ln w="17780">
            <a:solidFill>
              <a:srgbClr val="00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23282E"/>
                </a:solidFill>
                <a:latin typeface="Aptos"/>
              </a:rPr>
              <a:t>Pod 1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3977639" y="1837943"/>
            <a:ext cx="594361" cy="1271017"/>
          </a:xfrm>
          <a:prstGeom prst="line">
            <a:avLst/>
          </a:prstGeom>
          <a:ln w="2286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572000" y="2743200"/>
            <a:ext cx="1417320" cy="658368"/>
          </a:xfrm>
          <a:prstGeom prst="roundRect">
            <a:avLst/>
          </a:prstGeom>
          <a:solidFill>
            <a:srgbClr val="DEF4F2"/>
          </a:solidFill>
          <a:ln w="17780">
            <a:solidFill>
              <a:srgbClr val="00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23282E"/>
                </a:solidFill>
                <a:latin typeface="Aptos"/>
              </a:rPr>
              <a:t>Pod 2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3977639" y="3072384"/>
            <a:ext cx="594361" cy="36576"/>
          </a:xfrm>
          <a:prstGeom prst="line">
            <a:avLst/>
          </a:prstGeom>
          <a:ln w="2286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572000" y="3977639"/>
            <a:ext cx="1417320" cy="658368"/>
          </a:xfrm>
          <a:prstGeom prst="roundRect">
            <a:avLst/>
          </a:prstGeom>
          <a:solidFill>
            <a:srgbClr val="DEF4F2"/>
          </a:solidFill>
          <a:ln w="17780">
            <a:solidFill>
              <a:srgbClr val="00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23282E"/>
                </a:solidFill>
                <a:latin typeface="Aptos"/>
              </a:rPr>
              <a:t>Pod 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77639" y="3108960"/>
            <a:ext cx="594361" cy="1197864"/>
          </a:xfrm>
          <a:prstGeom prst="line">
            <a:avLst/>
          </a:prstGeom>
          <a:ln w="2286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812280" y="2331720"/>
            <a:ext cx="1828800" cy="914400"/>
          </a:xfrm>
          <a:prstGeom prst="roundRect">
            <a:avLst/>
          </a:prstGeom>
          <a:solidFill>
            <a:srgbClr val="FFF1DC"/>
          </a:solidFill>
          <a:ln w="17780">
            <a:solidFill>
              <a:srgbClr val="D27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23282E"/>
                </a:solidFill>
                <a:latin typeface="Aptos"/>
              </a:rPr>
              <a:t>DB Service
endpoint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72600" y="1508760"/>
            <a:ext cx="2011680" cy="731520"/>
          </a:xfrm>
          <a:prstGeom prst="roundRect">
            <a:avLst/>
          </a:prstGeom>
          <a:solidFill>
            <a:srgbClr val="E2EFFC"/>
          </a:solidFill>
          <a:ln w="17780">
            <a:solidFill>
              <a:srgbClr val="2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23282E"/>
                </a:solidFill>
                <a:latin typeface="Aptos"/>
              </a:rPr>
              <a:t>Primary DB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72600" y="2743200"/>
            <a:ext cx="2011680" cy="731520"/>
          </a:xfrm>
          <a:prstGeom prst="roundRect">
            <a:avLst/>
          </a:prstGeom>
          <a:solidFill>
            <a:srgbClr val="DEF4F2"/>
          </a:solidFill>
          <a:ln w="17780">
            <a:solidFill>
              <a:srgbClr val="00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23282E"/>
                </a:solidFill>
                <a:latin typeface="Aptos"/>
              </a:rPr>
              <a:t>Replica DB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3977639"/>
            <a:ext cx="2011680" cy="731520"/>
          </a:xfrm>
          <a:prstGeom prst="roundRect">
            <a:avLst/>
          </a:prstGeom>
          <a:solidFill>
            <a:srgbClr val="E6F5EA"/>
          </a:solidFill>
          <a:ln w="17780">
            <a:solidFill>
              <a:srgbClr val="00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23282E"/>
                </a:solidFill>
                <a:latin typeface="Aptos"/>
              </a:rPr>
              <a:t>Backups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828800" y="3108960"/>
            <a:ext cx="411480" cy="0"/>
          </a:xfrm>
          <a:prstGeom prst="line">
            <a:avLst/>
          </a:prstGeom>
          <a:ln w="2286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989320" y="1828800"/>
            <a:ext cx="822960" cy="822960"/>
          </a:xfrm>
          <a:prstGeom prst="line">
            <a:avLst/>
          </a:prstGeom>
          <a:ln w="15240">
            <a:solidFill>
              <a:srgbClr val="D2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5989320" y="2788920"/>
            <a:ext cx="822960" cy="283464"/>
          </a:xfrm>
          <a:prstGeom prst="line">
            <a:avLst/>
          </a:prstGeom>
          <a:ln w="15240">
            <a:solidFill>
              <a:srgbClr val="D2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5989320" y="2971800"/>
            <a:ext cx="822960" cy="1325880"/>
          </a:xfrm>
          <a:prstGeom prst="line">
            <a:avLst/>
          </a:prstGeom>
          <a:ln w="15240">
            <a:solidFill>
              <a:srgbClr val="D2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8641080" y="1874519"/>
            <a:ext cx="731520" cy="731521"/>
          </a:xfrm>
          <a:prstGeom prst="line">
            <a:avLst/>
          </a:prstGeom>
          <a:ln w="2286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641080" y="2834640"/>
            <a:ext cx="731520" cy="274320"/>
          </a:xfrm>
          <a:prstGeom prst="line">
            <a:avLst/>
          </a:prstGeom>
          <a:ln w="2286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378440" y="3474720"/>
            <a:ext cx="0" cy="502919"/>
          </a:xfrm>
          <a:prstGeom prst="line">
            <a:avLst/>
          </a:prstGeom>
          <a:ln w="15240">
            <a:solidFill>
              <a:srgbClr val="007D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31520" y="5349240"/>
            <a:ext cx="1078992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700" b="1">
                <a:solidFill>
                  <a:srgbClr val="193152"/>
                </a:solidFill>
                <a:latin typeface="Aptos"/>
              </a:rPr>
              <a:t>Application Pods scale independently. Database reliability needs its own storage, HA and recovery plan.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029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r>
              <a:rPr sz="2700" b="1">
                <a:solidFill>
                  <a:srgbClr val="193152"/>
                </a:solidFill>
                <a:latin typeface="Aptos"/>
              </a:rPr>
              <a:t>13. Six rules to remember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04672"/>
            <a:ext cx="914400" cy="45720"/>
          </a:xfrm>
          <a:prstGeom prst="rect">
            <a:avLst/>
          </a:prstGeom>
          <a:solidFill>
            <a:srgbClr val="007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510528"/>
            <a:ext cx="640080" cy="164592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900" b="0">
                <a:solidFill>
                  <a:srgbClr val="5A6470"/>
                </a:solidFill>
                <a:latin typeface="Aptos"/>
              </a:rP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2377440" cy="566928"/>
          </a:xfrm>
          <a:prstGeom prst="roundRect">
            <a:avLst/>
          </a:prstGeom>
          <a:solidFill>
            <a:srgbClr val="E2EFFC"/>
          </a:solidFill>
          <a:ln w="17780">
            <a:solidFill>
              <a:srgbClr val="2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23282E"/>
                </a:solidFill>
                <a:latin typeface="Aptos"/>
              </a:rPr>
              <a:t>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37560" y="1325880"/>
            <a:ext cx="8138160" cy="56692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r>
              <a:rPr sz="1600" b="0">
                <a:solidFill>
                  <a:srgbClr val="23282E"/>
                </a:solidFill>
                <a:latin typeface="Aptos"/>
              </a:rPr>
              <a:t>Stable endpoint; routes to ready Pods.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75688"/>
            <a:ext cx="2377440" cy="566928"/>
          </a:xfrm>
          <a:prstGeom prst="roundRect">
            <a:avLst/>
          </a:prstGeom>
          <a:solidFill>
            <a:srgbClr val="E2EFFC"/>
          </a:solidFill>
          <a:ln w="17780">
            <a:solidFill>
              <a:srgbClr val="2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23282E"/>
                </a:solidFill>
                <a:latin typeface="Aptos"/>
              </a:rPr>
              <a:t>Deployment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2075688"/>
            <a:ext cx="8138160" cy="56692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r>
              <a:rPr sz="1600" b="0">
                <a:solidFill>
                  <a:srgbClr val="23282E"/>
                </a:solidFill>
                <a:latin typeface="Aptos"/>
              </a:rPr>
              <a:t>Maintains the desired number of Pods.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825496"/>
            <a:ext cx="2377440" cy="566928"/>
          </a:xfrm>
          <a:prstGeom prst="roundRect">
            <a:avLst/>
          </a:prstGeom>
          <a:solidFill>
            <a:srgbClr val="E2EFFC"/>
          </a:solidFill>
          <a:ln w="17780">
            <a:solidFill>
              <a:srgbClr val="2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23282E"/>
                </a:solidFill>
                <a:latin typeface="Aptos"/>
              </a:rPr>
              <a:t>Session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2825496"/>
            <a:ext cx="8138160" cy="56692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r>
              <a:rPr sz="1600" b="0">
                <a:solidFill>
                  <a:srgbClr val="23282E"/>
                </a:solidFill>
                <a:latin typeface="Aptos"/>
              </a:rPr>
              <a:t>Use a token or shared store—not only Pod memory.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575304"/>
            <a:ext cx="2377440" cy="566928"/>
          </a:xfrm>
          <a:prstGeom prst="roundRect">
            <a:avLst/>
          </a:prstGeom>
          <a:solidFill>
            <a:srgbClr val="E2EFFC"/>
          </a:solidFill>
          <a:ln w="17780">
            <a:solidFill>
              <a:srgbClr val="2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23282E"/>
                </a:solidFill>
                <a:latin typeface="Aptos"/>
              </a:rPr>
              <a:t>Data ownership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3575304"/>
            <a:ext cx="8138160" cy="56692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r>
              <a:rPr sz="1600" b="0">
                <a:solidFill>
                  <a:srgbClr val="23282E"/>
                </a:solidFill>
                <a:latin typeface="Aptos"/>
              </a:rPr>
              <a:t>Services own data; use APIs/events across boundaries.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325112"/>
            <a:ext cx="2377440" cy="566928"/>
          </a:xfrm>
          <a:prstGeom prst="roundRect">
            <a:avLst/>
          </a:prstGeom>
          <a:solidFill>
            <a:srgbClr val="E2EFFC"/>
          </a:solidFill>
          <a:ln w="17780">
            <a:solidFill>
              <a:srgbClr val="2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23282E"/>
                </a:solidFill>
                <a:latin typeface="Aptos"/>
              </a:rPr>
              <a:t>Persistence + HA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4325112"/>
            <a:ext cx="8138160" cy="56692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r>
              <a:rPr sz="1600" b="0">
                <a:solidFill>
                  <a:srgbClr val="23282E"/>
                </a:solidFill>
                <a:latin typeface="Aptos"/>
              </a:rPr>
              <a:t>PVC preserves data; replicas/failover improve availability.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5074920"/>
            <a:ext cx="2377440" cy="566928"/>
          </a:xfrm>
          <a:prstGeom prst="roundRect">
            <a:avLst/>
          </a:prstGeom>
          <a:solidFill>
            <a:srgbClr val="E2EFFC"/>
          </a:solidFill>
          <a:ln w="17780">
            <a:solidFill>
              <a:srgbClr val="2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23282E"/>
                </a:solidFill>
                <a:latin typeface="Aptos"/>
              </a:rPr>
              <a:t>Backups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5074920"/>
            <a:ext cx="8138160" cy="56692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r>
              <a:rPr sz="1600" b="0">
                <a:solidFill>
                  <a:srgbClr val="23282E"/>
                </a:solidFill>
                <a:latin typeface="Aptos"/>
              </a:rPr>
              <a:t>Separate backups and tested restores recover from data loss.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989320"/>
            <a:ext cx="10424160" cy="3200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600" b="1">
                <a:solidFill>
                  <a:srgbClr val="B44141"/>
                </a:solidFill>
                <a:latin typeface="Aptos"/>
              </a:rPr>
              <a:t>Final takeaway: Kubernetes manages Pods; it does not automatically solve data reliability.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029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r>
              <a:rPr sz="2700" b="1">
                <a:solidFill>
                  <a:srgbClr val="193152"/>
                </a:solidFill>
                <a:latin typeface="Aptos"/>
              </a:rPr>
              <a:t>Quick classroom check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04672"/>
            <a:ext cx="914400" cy="45720"/>
          </a:xfrm>
          <a:prstGeom prst="rect">
            <a:avLst/>
          </a:prstGeom>
          <a:solidFill>
            <a:srgbClr val="007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510528"/>
            <a:ext cx="640080" cy="164592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900" b="0">
                <a:solidFill>
                  <a:srgbClr val="5A6470"/>
                </a:solidFill>
                <a:latin typeface="Aptos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82E"/>
                </a:solidFill>
                <a:latin typeface="Aptos"/>
              </a:defRPr>
            </a:pPr>
            <a:r>
              <a:t>•  If a Pod is deleted, what keeps the desired replica count?</a:t>
            </a:r>
          </a:p>
          <a:p>
            <a:pPr>
              <a:spcAft>
                <a:spcPts val="1300"/>
              </a:spcAft>
              <a:defRPr sz="2000">
                <a:solidFill>
                  <a:srgbClr val="23282E"/>
                </a:solidFill>
                <a:latin typeface="Aptos"/>
              </a:defRPr>
            </a:pPr>
            <a:r>
              <a:t>•  If login happened at Pod 1, what lets Pod 3 validate the user?</a:t>
            </a:r>
          </a:p>
          <a:p>
            <a:pPr>
              <a:spcAft>
                <a:spcPts val="1300"/>
              </a:spcAft>
              <a:defRPr sz="2000">
                <a:solidFill>
                  <a:srgbClr val="23282E"/>
                </a:solidFill>
                <a:latin typeface="Aptos"/>
              </a:defRPr>
            </a:pPr>
            <a:r>
              <a:t>•  Does a ClusterIP mean the database has replicas?</a:t>
            </a:r>
          </a:p>
          <a:p>
            <a:pPr>
              <a:spcAft>
                <a:spcPts val="1300"/>
              </a:spcAft>
              <a:defRPr sz="2000">
                <a:solidFill>
                  <a:srgbClr val="23282E"/>
                </a:solidFill>
                <a:latin typeface="Aptos"/>
              </a:defRPr>
            </a:pPr>
            <a:r>
              <a:t>•  Does a PVC replace backups?</a:t>
            </a:r>
          </a:p>
          <a:p>
            <a:pPr>
              <a:spcAft>
                <a:spcPts val="1300"/>
              </a:spcAft>
              <a:defRPr sz="2000">
                <a:solidFill>
                  <a:srgbClr val="23282E"/>
                </a:solidFill>
                <a:latin typeface="Aptos"/>
              </a:defRPr>
            </a:pPr>
            <a:r>
              <a:t>•  What is the difference between a database replica and a backup?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